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647" r:id="rId2"/>
    <p:sldId id="648" r:id="rId3"/>
    <p:sldId id="650" r:id="rId4"/>
    <p:sldId id="649" r:id="rId5"/>
    <p:sldId id="652" r:id="rId6"/>
    <p:sldId id="654" r:id="rId7"/>
    <p:sldId id="655" r:id="rId8"/>
    <p:sldId id="653" r:id="rId9"/>
    <p:sldId id="420" r:id="rId10"/>
    <p:sldId id="291" r:id="rId11"/>
    <p:sldId id="296" r:id="rId12"/>
    <p:sldId id="292" r:id="rId13"/>
    <p:sldId id="297" r:id="rId14"/>
    <p:sldId id="293" r:id="rId15"/>
    <p:sldId id="299" r:id="rId16"/>
    <p:sldId id="656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352A"/>
    <a:srgbClr val="3876B8"/>
    <a:srgbClr val="AEDDE3"/>
    <a:srgbClr val="F59CB8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9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细胞核提取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BF4CC-C155-4FA4-B93E-5163DDC87A9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细胞核提取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BF4CC-C155-4FA4-B93E-5163DDC87A9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183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细胞核提取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BF4CC-C155-4FA4-B93E-5163DDC87A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34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细胞核提取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BF4CC-C155-4FA4-B93E-5163DDC87A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054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细胞核提取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BF4CC-C155-4FA4-B93E-5163DDC87A9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54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细胞核提取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BF4CC-C155-4FA4-B93E-5163DDC87A9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820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细胞核提取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BF4CC-C155-4FA4-B93E-5163DDC87A9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606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细胞核提取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BF4CC-C155-4FA4-B93E-5163DDC87A9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439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BE7DB-E9F9-8D4E-8BCA-6F4A86DCDC8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1220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BE7DB-E9F9-8D4E-8BCA-6F4A86DCDC8C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1044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值得一提的是，像转录因子一类的蛋白与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，其结合位点比较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narrow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，所以双峰模型的构建是比较合理的。但右像图所示的，一些蛋白与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会产生较宽的结合区域（诸如一些组蛋白修饰），这时候双峰就不那么显著了。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Identifying ChIP-seq enrichment using MACS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这篇文章中，作者也提到对于一些过度破碎或者有着很宽的结合位点情况，可能会造成算出来的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很小。对于这种情况，我们一般建议用一个特定的片段长度，而非是预测出来的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、注意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的区别，在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MACS2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中，这两种情况都存在了。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BE7DB-E9F9-8D4E-8BCA-6F4A86DCDC8C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8693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BE7DB-E9F9-8D4E-8BCA-6F4A86DCDC8C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5627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、主要是根据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利用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组的数据构建泊松分布。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、当没有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时，利用实验组，稍大一点的局部区间（比如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50k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）的数据构建泊松分布。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BE7DB-E9F9-8D4E-8BCA-6F4A86DCDC8C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033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、其实也就是说，根据</a:t>
            </a:r>
            <a:r>
              <a:rPr kumimoji="0"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泊松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分布，我们可以算出在某个置信概率（如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0.00001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）下，随机情况下，某个碱基上可以覆盖的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的数目的最小值，当实际观察到的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数目超过这个值（单侧检验）时，我们认为该碱基是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的一个结合热点。反过来，针对每一个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数目，我们也可以算出对应的置信概率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BE7DB-E9F9-8D4E-8BCA-6F4A86DCDC8C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0956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BE7DB-E9F9-8D4E-8BCA-6F4A86DCDC8C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8339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kumimoji="0" lang="zh-CN" altLang="en-US" sz="18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defRPr sz="16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defRPr sz="1400" u="none" strike="noStrike" kern="1200" cap="none" spc="150" normalizeH="0"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lang="zh-CN" altLang="en-US" sz="2000" b="1" i="0" u="none" strike="noStrike" kern="1200" cap="none" spc="2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kumimoji="0" lang="zh-CN" altLang="en-US" sz="14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2022/5/1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defRPr u="none" strike="noStrike" kern="1200" cap="none" spc="150" normalizeH="0" baseline="0"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defRPr u="none" strike="noStrike" kern="1200" cap="none" spc="150" normalizeH="0" baseline="0"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defRPr u="none" strike="noStrike" kern="1200" cap="none" spc="150" normalizeH="0" baseline="0"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defRPr u="none" strike="noStrike" kern="1200" cap="none" spc="150" normalizeH="0" baseline="0"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defRPr u="none" strike="noStrike" kern="1200" cap="none" spc="150" normalizeH="0" baseline="0"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defRPr u="none" strike="noStrike" kern="1200" cap="none" spc="150" normalizeH="0" baseline="0"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2022/5/1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bctraining.github.io/Intro-to-ChIPseq/lessons/05_peak_calling_macs.html" TargetMode="External"/><Relationship Id="rId2" Type="http://schemas.openxmlformats.org/officeDocument/2006/relationships/hyperlink" Target="https://github.com/macs3-project/MACS/wiki/Advanced:-Call-peaks-using-MACS2-subcommand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0668" y="277483"/>
            <a:ext cx="8814732" cy="553703"/>
            <a:chOff x="100668" y="945305"/>
            <a:chExt cx="8814732" cy="553703"/>
          </a:xfrm>
        </p:grpSpPr>
        <p:pic>
          <p:nvPicPr>
            <p:cNvPr id="5" name="图片 4" descr="logo_new.pn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70968" y="945305"/>
              <a:ext cx="1584359" cy="403948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00668" y="1499008"/>
              <a:ext cx="8814732" cy="0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BD33-7736-4EB4-A235-D5A36F9EFE93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8B4B12-3E08-4A55-A5DA-A9C383C9D6F4}"/>
              </a:ext>
            </a:extLst>
          </p:cNvPr>
          <p:cNvSpPr/>
          <p:nvPr/>
        </p:nvSpPr>
        <p:spPr>
          <a:xfrm>
            <a:off x="740328" y="2411323"/>
            <a:ext cx="76633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Model-based Analysis of ChIP-Seq (MACS)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1885A2-3FFB-44B0-B4F3-3731E7416FAA}"/>
              </a:ext>
            </a:extLst>
          </p:cNvPr>
          <p:cNvSpPr/>
          <p:nvPr/>
        </p:nvSpPr>
        <p:spPr>
          <a:xfrm>
            <a:off x="780034" y="3140679"/>
            <a:ext cx="7269061" cy="1294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Yong Zhang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¤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Tao Liu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¤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Clifford A Meyer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Jérôme Eeckhoute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David S Johnson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‡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Bradley E Bernstein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§¶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Chad Nusbaum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¶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Richard M Myers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Myles Brown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Wei Li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X Shirley Liu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0668" y="277483"/>
            <a:ext cx="8814732" cy="553703"/>
            <a:chOff x="100668" y="945305"/>
            <a:chExt cx="8814732" cy="553703"/>
          </a:xfrm>
        </p:grpSpPr>
        <p:pic>
          <p:nvPicPr>
            <p:cNvPr id="5" name="图片 4" descr="logo_new.pn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70968" y="945305"/>
              <a:ext cx="1584359" cy="403948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00668" y="1499008"/>
              <a:ext cx="8814732" cy="0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BD33-7736-4EB4-A235-D5A36F9EFE93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83AD0F-DD48-441B-B289-2909D0182C0E}"/>
              </a:ext>
            </a:extLst>
          </p:cNvPr>
          <p:cNvSpPr/>
          <p:nvPr/>
        </p:nvSpPr>
        <p:spPr>
          <a:xfrm>
            <a:off x="100668" y="1059320"/>
            <a:ext cx="28341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6B3E21-4716-4D15-BB96-EA28291026CB}"/>
              </a:ext>
            </a:extLst>
          </p:cNvPr>
          <p:cNvSpPr/>
          <p:nvPr/>
        </p:nvSpPr>
        <p:spPr>
          <a:xfrm>
            <a:off x="300445" y="2045903"/>
            <a:ext cx="8199121" cy="3366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ChIP-Seq tags represent only the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 of the ChIP fragments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instead of precise protein-DNA binding sites. Often shifted towards the 3' direction,but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of the shift is often unknown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ChIP-Seq data exhibit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biases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along the genome due to sequencing and mapping biases, chromatin structure and genome copy number variations. Modeled 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samples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sequenced deeply enough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zh-CN"/>
            </a:b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7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0668" y="277483"/>
            <a:ext cx="8814732" cy="553703"/>
            <a:chOff x="100668" y="945305"/>
            <a:chExt cx="8814732" cy="553703"/>
          </a:xfrm>
        </p:grpSpPr>
        <p:pic>
          <p:nvPicPr>
            <p:cNvPr id="5" name="图片 4" descr="logo_new.pn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70968" y="945305"/>
              <a:ext cx="1584359" cy="403948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00668" y="1499008"/>
              <a:ext cx="8814732" cy="0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BD33-7736-4EB4-A235-D5A36F9EFE93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91538D-908C-4750-B335-41947689985B}"/>
              </a:ext>
            </a:extLst>
          </p:cNvPr>
          <p:cNvSpPr/>
          <p:nvPr/>
        </p:nvSpPr>
        <p:spPr>
          <a:xfrm>
            <a:off x="3759129" y="1412464"/>
            <a:ext cx="5289077" cy="5218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qually likely to be sequenced from both ends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Watson strand enriched  upstream and Crick strand enriched downstream.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Given a bandwidth and a high-confidence fold-enrichment (mfold), MACS slides 2bandwidth windows across the genome to find regions with tags more than mfold. randomly samples 1,000 of these high-quality peaks, to calculate ‘d’.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FoxA1 ChIP-Seq MACS estimates the d to be only 126 bp, FKHR motif estimate of 122 bp. NRSF ChIP-Seq the MACS model estimated d as 96 bp ,motif estimate of 70 bp; CTCF ChIP-Seq data the MACS model estimated a d of 76 bp,motif estimate of 62 bp. </a:t>
            </a:r>
            <a:b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3D43224-EC2F-4228-95E6-97C89B3D4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4" y="4911007"/>
            <a:ext cx="3920510" cy="1612755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73A54334-2949-486D-B553-C1AB193AF007}"/>
              </a:ext>
            </a:extLst>
          </p:cNvPr>
          <p:cNvGrpSpPr/>
          <p:nvPr/>
        </p:nvGrpSpPr>
        <p:grpSpPr>
          <a:xfrm>
            <a:off x="73193" y="1477517"/>
            <a:ext cx="3446669" cy="3222162"/>
            <a:chOff x="95794" y="918272"/>
            <a:chExt cx="3446669" cy="3222162"/>
          </a:xfrm>
        </p:grpSpPr>
        <p:pic>
          <p:nvPicPr>
            <p:cNvPr id="1028" name="Picture 4" descr="http://image109.360doc.com/DownloadImg/2021/07/1412/226252275_2_20210714124022646_wm">
              <a:extLst>
                <a:ext uri="{FF2B5EF4-FFF2-40B4-BE49-F238E27FC236}">
                  <a16:creationId xmlns:a16="http://schemas.microsoft.com/office/drawing/2014/main" id="{8E33571B-5FD9-4032-9CF0-C00D6DD52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94" y="918272"/>
              <a:ext cx="3446669" cy="3222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CA86D5E-1EEF-48EC-A483-9CED7259F528}"/>
                </a:ext>
              </a:extLst>
            </p:cNvPr>
            <p:cNvSpPr/>
            <p:nvPr/>
          </p:nvSpPr>
          <p:spPr>
            <a:xfrm>
              <a:off x="2786743" y="3844426"/>
              <a:ext cx="731520" cy="283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D66FB3F-69D8-431C-96A2-669A04340F5D}"/>
              </a:ext>
            </a:extLst>
          </p:cNvPr>
          <p:cNvSpPr/>
          <p:nvPr/>
        </p:nvSpPr>
        <p:spPr>
          <a:xfrm>
            <a:off x="73193" y="925425"/>
            <a:ext cx="71442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Ⅰ.Modeling the shift size of ChIP-Seq tags 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99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0668" y="277483"/>
            <a:ext cx="8814732" cy="553703"/>
            <a:chOff x="100668" y="945305"/>
            <a:chExt cx="8814732" cy="553703"/>
          </a:xfrm>
        </p:grpSpPr>
        <p:pic>
          <p:nvPicPr>
            <p:cNvPr id="5" name="图片 4" descr="logo_new.pn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70968" y="945305"/>
              <a:ext cx="1584359" cy="403948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00668" y="1499008"/>
              <a:ext cx="8814732" cy="0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BD33-7736-4EB4-A235-D5A36F9EFE93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620A8B-3D91-4852-9A40-618CFD5ADD50}"/>
              </a:ext>
            </a:extLst>
          </p:cNvPr>
          <p:cNvSpPr/>
          <p:nvPr/>
        </p:nvSpPr>
        <p:spPr>
          <a:xfrm>
            <a:off x="100668" y="980942"/>
            <a:ext cx="40265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Ⅱ.Peak detection 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F27663-8B47-4C7B-95D4-07013E61DCB2}"/>
              </a:ext>
            </a:extLst>
          </p:cNvPr>
          <p:cNvSpPr/>
          <p:nvPr/>
        </p:nvSpPr>
        <p:spPr>
          <a:xfrm>
            <a:off x="403527" y="2101311"/>
            <a:ext cx="8511873" cy="3366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Experiments with a control, MACS linearly scales the total control tag count to be the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as the total ChIP tag count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/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Removes duplicate tags by the sequencing depth (binomial distribution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-value &lt;10e-5).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MACS shifts every tag by d/2, it slides 2d windows across the genome to find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peaks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with a significant tag enrichment (Poisson distribution p-value based on λ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default 10e-5).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Each tag position is extended d bases from its center,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fragment pileup, hereafter referred to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summit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is predicted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precise binding location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16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0668" y="277483"/>
            <a:ext cx="8814732" cy="553703"/>
            <a:chOff x="100668" y="945305"/>
            <a:chExt cx="8814732" cy="553703"/>
          </a:xfrm>
        </p:grpSpPr>
        <p:pic>
          <p:nvPicPr>
            <p:cNvPr id="5" name="图片 4" descr="logo_new.pn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70968" y="945305"/>
              <a:ext cx="1584359" cy="403948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00668" y="1499008"/>
              <a:ext cx="8814732" cy="0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BD33-7736-4EB4-A235-D5A36F9EFE93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B0E67B-B32A-402E-B481-CAA26D0765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9967"/>
          <a:stretch/>
        </p:blipFill>
        <p:spPr>
          <a:xfrm>
            <a:off x="170968" y="1121309"/>
            <a:ext cx="2890094" cy="23762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190311-FEDF-43FF-AC96-5663B28D11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866"/>
          <a:stretch/>
        </p:blipFill>
        <p:spPr>
          <a:xfrm>
            <a:off x="170968" y="3599729"/>
            <a:ext cx="2890094" cy="241964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F19CDAE-0608-49C2-97C0-F33AB884A0F5}"/>
              </a:ext>
            </a:extLst>
          </p:cNvPr>
          <p:cNvGrpSpPr/>
          <p:nvPr/>
        </p:nvGrpSpPr>
        <p:grpSpPr>
          <a:xfrm>
            <a:off x="3151009" y="1160015"/>
            <a:ext cx="5863862" cy="5443734"/>
            <a:chOff x="3151009" y="1160015"/>
            <a:chExt cx="5863862" cy="5443734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C05C8BB-4419-4BC2-898F-02FA9CEC0B31}"/>
                </a:ext>
              </a:extLst>
            </p:cNvPr>
            <p:cNvGrpSpPr/>
            <p:nvPr/>
          </p:nvGrpSpPr>
          <p:grpSpPr>
            <a:xfrm>
              <a:off x="3151009" y="1160015"/>
              <a:ext cx="5863862" cy="5443734"/>
              <a:chOff x="3021880" y="1107116"/>
              <a:chExt cx="5863862" cy="5443734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DFA8D037-8D25-4CCE-9B3D-58A8B5484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2871" y="1911261"/>
                <a:ext cx="1857143" cy="628571"/>
              </a:xfrm>
              <a:prstGeom prst="rect">
                <a:avLst/>
              </a:prstGeom>
            </p:spPr>
          </p:pic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919FCBF-A8E1-4D4C-9CF4-A778F916D2E1}"/>
                  </a:ext>
                </a:extLst>
              </p:cNvPr>
              <p:cNvSpPr/>
              <p:nvPr/>
            </p:nvSpPr>
            <p:spPr>
              <a:xfrm>
                <a:off x="3021880" y="1107116"/>
                <a:ext cx="5863862" cy="54437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Most 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ChIP-Seq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experiments, tag distribution along the genome could be modeled by a Poisson distribution 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Often observe tag distributions with local fluctuations and biases. MACS uses a dynamic parameter, 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λlocal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defined for each candidate peak as: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MACS uses 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altLang="zh-CN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calculate the p-value of each candidate peak and removes potential false positives due to local biases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MACS using the same procedure employed in the previous 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ChIP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-chip peak finders MAT and MA2C to estimates the false discovery rate (FDR) .</a:t>
                </a:r>
                <a:endParaRPr lang="zh-CN" altLang="en-US" dirty="0"/>
              </a:p>
            </p:txBody>
          </p:sp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24E53F5-7715-4C29-ADA5-03D029EC4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36644" y="3745879"/>
              <a:ext cx="3631402" cy="359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044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0668" y="277483"/>
            <a:ext cx="8814732" cy="553703"/>
            <a:chOff x="100668" y="945305"/>
            <a:chExt cx="8814732" cy="553703"/>
          </a:xfrm>
        </p:grpSpPr>
        <p:pic>
          <p:nvPicPr>
            <p:cNvPr id="5" name="图片 4" descr="logo_new.pn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70968" y="945305"/>
              <a:ext cx="1584359" cy="403948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00668" y="1499008"/>
              <a:ext cx="8814732" cy="0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BD33-7736-4EB4-A235-D5A36F9EFE93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BF412B-9812-408C-A2C2-AE11060FEB28}"/>
              </a:ext>
            </a:extLst>
          </p:cNvPr>
          <p:cNvSpPr/>
          <p:nvPr/>
        </p:nvSpPr>
        <p:spPr>
          <a:xfrm>
            <a:off x="100668" y="980942"/>
            <a:ext cx="40265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Ⅲ. Model evaluation 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ECAE17-5A99-4903-BBBD-298454074E6A}"/>
              </a:ext>
            </a:extLst>
          </p:cNvPr>
          <p:cNvSpPr/>
          <p:nvPr/>
        </p:nvSpPr>
        <p:spPr>
          <a:xfrm>
            <a:off x="3357733" y="911686"/>
            <a:ext cx="5505274" cy="5719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Two key features of MACS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empirical modeling of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‘d’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and tag shifting by d/2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use of a dynamic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16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local biases in the genome.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MACS by: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of predicted peaks with a FKHR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motif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within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bp of the peak summit 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/>
              <a:t>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spatial resolution, defined as the average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from the peak summit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the nearest FKHR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motif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Greatly improved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by using tag shifting and the dynamic λ</a:t>
            </a:r>
            <a:r>
              <a:rPr lang="en-US" altLang="zh-CN" sz="1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sz="1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local 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is also effective in capturing the local genomic bias when a control is not available.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7,000 peaks, the FDR for MACS is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0.4%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is available and λ</a:t>
            </a:r>
            <a:r>
              <a:rPr lang="en-US" altLang="zh-CN" sz="16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 get 7,000 peaks when a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is not available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the FDR could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remain low at 3.8%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if MACS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estimates λ</a:t>
            </a:r>
            <a:r>
              <a:rPr lang="en-US" altLang="zh-CN" sz="1600" baseline="-25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if MACS uses a global λ</a:t>
            </a:r>
            <a:r>
              <a:rPr lang="en-US" altLang="zh-CN" sz="1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it would reach 41.2% .</a:t>
            </a:r>
            <a:endParaRPr lang="zh-C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45256D-890B-4E0D-9712-C3E058467C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201"/>
          <a:stretch/>
        </p:blipFill>
        <p:spPr>
          <a:xfrm>
            <a:off x="245555" y="4150615"/>
            <a:ext cx="3081300" cy="25472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01296A-9344-42F3-BEBD-346366C589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223"/>
          <a:stretch/>
        </p:blipFill>
        <p:spPr>
          <a:xfrm>
            <a:off x="214677" y="1536262"/>
            <a:ext cx="3143056" cy="254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56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0668" y="277483"/>
            <a:ext cx="8814732" cy="553703"/>
            <a:chOff x="100668" y="945305"/>
            <a:chExt cx="8814732" cy="553703"/>
          </a:xfrm>
        </p:grpSpPr>
        <p:pic>
          <p:nvPicPr>
            <p:cNvPr id="5" name="图片 4" descr="logo_new.pn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70968" y="945305"/>
              <a:ext cx="1584359" cy="403948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00668" y="1499008"/>
              <a:ext cx="8814732" cy="0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BD33-7736-4EB4-A235-D5A36F9EFE93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55A06B-4DD7-4DC3-8ED2-EE04ADC42142}"/>
              </a:ext>
            </a:extLst>
          </p:cNvPr>
          <p:cNvSpPr/>
          <p:nvPr/>
        </p:nvSpPr>
        <p:spPr>
          <a:xfrm>
            <a:off x="36064" y="878688"/>
            <a:ext cx="34385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Ⅳ.Method comparisons 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424960C-FB60-4CB4-A255-AD85F1833341}"/>
              </a:ext>
            </a:extLst>
          </p:cNvPr>
          <p:cNvGrpSpPr/>
          <p:nvPr/>
        </p:nvGrpSpPr>
        <p:grpSpPr>
          <a:xfrm>
            <a:off x="271636" y="2709075"/>
            <a:ext cx="8075410" cy="4148925"/>
            <a:chOff x="-12482" y="2169830"/>
            <a:chExt cx="9070495" cy="466017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5641A4E-45DA-4252-86D1-276FA72B5E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r="50613" b="66363"/>
            <a:stretch/>
          </p:blipFill>
          <p:spPr>
            <a:xfrm>
              <a:off x="-12482" y="2301855"/>
              <a:ext cx="2741174" cy="2227046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7267692-FE8D-42E2-A62E-A8A8983A25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989" t="67140" r="50705" b="1"/>
            <a:stretch/>
          </p:blipFill>
          <p:spPr>
            <a:xfrm>
              <a:off x="3024303" y="4558760"/>
              <a:ext cx="2741174" cy="227124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BD31FE3-5F1C-4295-845B-1BDAFA1901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1024" t="67140" r="1671" b="1"/>
            <a:stretch/>
          </p:blipFill>
          <p:spPr>
            <a:xfrm>
              <a:off x="6283281" y="4538770"/>
              <a:ext cx="2741175" cy="2271244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9F9EBA9-CF08-4056-99CE-2946F89B2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13" t="33818" r="50000" b="33587"/>
            <a:stretch/>
          </p:blipFill>
          <p:spPr>
            <a:xfrm>
              <a:off x="6094172" y="2198857"/>
              <a:ext cx="2963841" cy="2333394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2934CC5-5305-4526-A24A-758C048199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1365" t="1" r="2012" b="66363"/>
            <a:stretch/>
          </p:blipFill>
          <p:spPr>
            <a:xfrm>
              <a:off x="3047086" y="2169830"/>
              <a:ext cx="2741174" cy="2359071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624C2C8-3321-4D7A-9C4C-25CBCAAA40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0613" t="33688" r="1964" b="33716"/>
            <a:stretch/>
          </p:blipFill>
          <p:spPr>
            <a:xfrm>
              <a:off x="52842" y="4576715"/>
              <a:ext cx="2651019" cy="2173556"/>
            </a:xfrm>
            <a:prstGeom prst="rect">
              <a:avLst/>
            </a:prstGeom>
          </p:spPr>
        </p:pic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9D6CC860-9DDC-4866-AA00-6DB5F5C7DEFA}"/>
              </a:ext>
            </a:extLst>
          </p:cNvPr>
          <p:cNvSpPr/>
          <p:nvPr/>
        </p:nvSpPr>
        <p:spPr>
          <a:xfrm>
            <a:off x="329794" y="1409910"/>
            <a:ext cx="7908195" cy="11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Compared MACS with three other publicly available ChIPSeq peak finding methods,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ChIPSeq Peak Finder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FindPeaks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FDR 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detection specificity and spatial resolution.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33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0668" y="277483"/>
            <a:ext cx="8814732" cy="553703"/>
            <a:chOff x="100668" y="945305"/>
            <a:chExt cx="8814732" cy="553703"/>
          </a:xfrm>
        </p:grpSpPr>
        <p:pic>
          <p:nvPicPr>
            <p:cNvPr id="5" name="图片 4" descr="logo_new.pn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70968" y="945305"/>
              <a:ext cx="1584359" cy="403948"/>
            </a:xfrm>
            <a:prstGeom prst="rect">
              <a:avLst/>
            </a:prstGeom>
          </p:spPr>
        </p:pic>
        <p:cxnSp>
          <p:nvCxnSpPr>
            <p:cNvPr id="7" name="直接连接符 6"/>
            <p:cNvCxnSpPr/>
            <p:nvPr/>
          </p:nvCxnSpPr>
          <p:spPr>
            <a:xfrm>
              <a:off x="100668" y="1499008"/>
              <a:ext cx="8814732" cy="0"/>
            </a:xfrm>
            <a:prstGeom prst="line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BD33-7736-4EB4-A235-D5A36F9EFE93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AD727A39-524D-4D7D-9C60-2D904FDCC6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003" t="12120" r="15510"/>
          <a:stretch/>
        </p:blipFill>
        <p:spPr>
          <a:xfrm>
            <a:off x="27341" y="1298414"/>
            <a:ext cx="3716757" cy="55137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25A16E7-3A13-4744-90F9-69D9260948EB}"/>
              </a:ext>
            </a:extLst>
          </p:cNvPr>
          <p:cNvSpPr txBox="1"/>
          <p:nvPr/>
        </p:nvSpPr>
        <p:spPr>
          <a:xfrm>
            <a:off x="78195" y="917825"/>
            <a:ext cx="1920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MACS1.4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F09D6A-311F-450D-BB41-C4970E876F13}"/>
              </a:ext>
            </a:extLst>
          </p:cNvPr>
          <p:cNvSpPr/>
          <p:nvPr/>
        </p:nvSpPr>
        <p:spPr>
          <a:xfrm>
            <a:off x="3714200" y="843276"/>
            <a:ext cx="5351605" cy="5588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Removes duplicate tags in excess of what is warranted by the sequencing depth.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slides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2bandwidth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windows </a:t>
            </a:r>
            <a:r>
              <a:rPr lang="zh-CN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randomly samples 1,000 of these high-quality peaks, to calculate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‘d’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Shifts all the tags by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d/2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toward the 3‘ ends 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linearly scales the total control tag count to be the same as the total ChIP tag count.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slides </a:t>
            </a:r>
            <a:r>
              <a:rPr lang="en-US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windows across the genome to find candidate peaks with a significant tag enrichment 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uses a dynamic parameter, </a:t>
            </a:r>
            <a:r>
              <a:rPr lang="en-US" altLang="zh-CN" sz="1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λlocal,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defined for each candidate peak.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uses λ</a:t>
            </a:r>
            <a:r>
              <a:rPr lang="en-US" altLang="zh-CN" sz="16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to calculate the p-value of each candidate peak and removes potential false positives due to local biases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false discovery rate (FDR) for each detected peak </a:t>
            </a:r>
          </a:p>
        </p:txBody>
      </p:sp>
    </p:spTree>
    <p:extLst>
      <p:ext uri="{BB962C8B-B14F-4D97-AF65-F5344CB8AC3E}">
        <p14:creationId xmlns:p14="http://schemas.microsoft.com/office/powerpoint/2010/main" val="759938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290F9-4D69-1845-BADF-F98C06475AC1}" type="slidenum">
              <a:rPr kumimoji="1" lang="zh-CN" altLang="en-US" smtClean="0"/>
              <a:t>9</a:t>
            </a:fld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222724" y="584775"/>
            <a:ext cx="7932859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b="1" dirty="0"/>
              <a:t>1</a:t>
            </a:r>
            <a:r>
              <a:rPr kumimoji="1" lang="zh-CN" altLang="en-US" b="1" dirty="0"/>
              <a:t>、去除</a:t>
            </a:r>
            <a:r>
              <a:rPr kumimoji="1" lang="en-US" altLang="zh-CN" b="1" dirty="0"/>
              <a:t>PCR duplication</a:t>
            </a:r>
          </a:p>
          <a:p>
            <a:r>
              <a:rPr kumimoji="1" lang="en-US" altLang="zh-CN" sz="1200" dirty="0"/>
              <a:t>These duplicates can arise from experimental artifacts, but can also contribute to genuine </a:t>
            </a:r>
            <a:r>
              <a:rPr kumimoji="1" lang="en-US" altLang="zh-CN" sz="1200" dirty="0" err="1"/>
              <a:t>ChIP</a:t>
            </a:r>
            <a:r>
              <a:rPr kumimoji="1" lang="en-US" altLang="zh-CN" sz="1200" dirty="0"/>
              <a:t>-signal</a:t>
            </a:r>
          </a:p>
          <a:p>
            <a:br>
              <a:rPr kumimoji="1" lang="en-US" altLang="zh-CN" dirty="0"/>
            </a:br>
            <a:r>
              <a:rPr kumimoji="1" lang="en-US" altLang="zh-CN" b="1" dirty="0"/>
              <a:t>2</a:t>
            </a:r>
            <a:r>
              <a:rPr kumimoji="1" lang="zh-CN" altLang="en-US" b="1" dirty="0"/>
              <a:t>、选</a:t>
            </a:r>
            <a:r>
              <a:rPr kumimoji="1" lang="en-US" altLang="zh-CN" b="1" dirty="0"/>
              <a:t>1000</a:t>
            </a:r>
            <a:r>
              <a:rPr kumimoji="1" lang="zh-CN" altLang="en-US" b="1" dirty="0"/>
              <a:t>个区域进行建模和计算</a:t>
            </a:r>
            <a:r>
              <a:rPr kumimoji="1" lang="en-US" altLang="zh-CN" b="1" dirty="0"/>
              <a:t>fragment d</a:t>
            </a:r>
          </a:p>
          <a:p>
            <a:r>
              <a:rPr kumimoji="1" lang="zh-CN" altLang="en-US" sz="1200" dirty="0"/>
              <a:t>    这个只是用</a:t>
            </a:r>
            <a:r>
              <a:rPr kumimoji="1" lang="en-US" altLang="zh-CN" sz="1200" dirty="0"/>
              <a:t>IP</a:t>
            </a:r>
            <a:r>
              <a:rPr kumimoji="1" lang="zh-CN" altLang="en-US" sz="1200" dirty="0"/>
              <a:t>数据，</a:t>
            </a:r>
            <a:r>
              <a:rPr kumimoji="1" lang="en-US" altLang="zh-CN" sz="1200" dirty="0"/>
              <a:t>Given a 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sonication size (bandwidth) </a:t>
            </a:r>
            <a:r>
              <a:rPr kumimoji="1" lang="en-US" altLang="zh-CN" sz="1200" dirty="0"/>
              <a:t>and 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a high-confidence fold-enrichment (</a:t>
            </a:r>
            <a:r>
              <a:rPr kumimoji="1" lang="en-US" altLang="zh-CN" sz="1200" b="1" dirty="0" err="1">
                <a:solidFill>
                  <a:srgbClr val="FF0000"/>
                </a:solidFill>
              </a:rPr>
              <a:t>mfold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), </a:t>
            </a:r>
            <a:r>
              <a:rPr kumimoji="1" lang="en-US" altLang="zh-CN" sz="1200" dirty="0"/>
              <a:t>MACS slides </a:t>
            </a:r>
            <a:r>
              <a:rPr kumimoji="1" lang="en-US" altLang="zh-CN" sz="1200" dirty="0">
                <a:solidFill>
                  <a:srgbClr val="FF0000"/>
                </a:solidFill>
              </a:rPr>
              <a:t>two bandwidth windows </a:t>
            </a:r>
            <a:r>
              <a:rPr kumimoji="1" lang="en-US" altLang="zh-CN" sz="1200" dirty="0"/>
              <a:t>across the genome to find regions with tags more than </a:t>
            </a:r>
            <a:r>
              <a:rPr kumimoji="1" lang="en-US" altLang="zh-CN" sz="1200" dirty="0" err="1">
                <a:solidFill>
                  <a:srgbClr val="FF0000"/>
                </a:solidFill>
              </a:rPr>
              <a:t>mfold</a:t>
            </a:r>
            <a:r>
              <a:rPr kumimoji="1" lang="en-US" altLang="zh-CN" sz="1200" dirty="0">
                <a:solidFill>
                  <a:srgbClr val="FF0000"/>
                </a:solidFill>
              </a:rPr>
              <a:t> enriched relative to a random tag genome distribution.</a:t>
            </a:r>
          </a:p>
          <a:p>
            <a:r>
              <a:rPr kumimoji="1" lang="en-US" altLang="zh-CN" sz="1200" dirty="0"/>
              <a:t>      MACS randomly samples 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1,000 of these high-quality peaks</a:t>
            </a:r>
            <a:r>
              <a:rPr kumimoji="1" lang="en-US" altLang="zh-CN" sz="1200" dirty="0"/>
              <a:t>, separates their positive and negative strand tags, and aligns them by the midpoint between their centers. 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The distance between the modes of the two peaks in the alignment is defined as ‘d’ and represents the estimated fragment length</a:t>
            </a:r>
            <a:r>
              <a:rPr kumimoji="1" lang="en-US" altLang="zh-CN" sz="1200" dirty="0"/>
              <a:t>. </a:t>
            </a:r>
            <a:br>
              <a:rPr kumimoji="1" lang="en-US" altLang="zh-CN" dirty="0"/>
            </a:br>
            <a:r>
              <a:rPr kumimoji="1" lang="en-US" altLang="zh-CN" b="1" dirty="0"/>
              <a:t>3</a:t>
            </a:r>
            <a:r>
              <a:rPr kumimoji="1" lang="zh-CN" altLang="en-US" b="1" dirty="0"/>
              <a:t>、根据</a:t>
            </a:r>
            <a:r>
              <a:rPr kumimoji="1" lang="en-US" altLang="zh-CN" b="1" dirty="0"/>
              <a:t>d</a:t>
            </a:r>
            <a:r>
              <a:rPr kumimoji="1" lang="zh-CN" altLang="en-US" b="1" dirty="0"/>
              <a:t>向</a:t>
            </a:r>
            <a:r>
              <a:rPr kumimoji="1" lang="en-US" altLang="zh-CN" b="1" dirty="0"/>
              <a:t>3’</a:t>
            </a:r>
            <a:r>
              <a:rPr kumimoji="1" lang="zh-CN" altLang="en-US" b="1" dirty="0"/>
              <a:t>端移动</a:t>
            </a:r>
            <a:r>
              <a:rPr kumimoji="1" lang="en-US" altLang="zh-CN" b="1" dirty="0"/>
              <a:t>1/2d</a:t>
            </a:r>
          </a:p>
          <a:p>
            <a:r>
              <a:rPr kumimoji="1" lang="en-US" altLang="zh-CN" sz="1200" b="1" dirty="0">
                <a:solidFill>
                  <a:srgbClr val="FF0000"/>
                </a:solidFill>
              </a:rPr>
              <a:t>MACS shifts all the tags by d/2 toward the 3’ ends to the most likely protein-DNA interaction sites.</a:t>
            </a:r>
          </a:p>
          <a:p>
            <a:br>
              <a:rPr kumimoji="1" lang="en-US" altLang="zh-CN" dirty="0"/>
            </a:br>
            <a:r>
              <a:rPr kumimoji="1" lang="en-US" altLang="zh-CN" b="1" dirty="0"/>
              <a:t>4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Scale two library</a:t>
            </a:r>
          </a:p>
          <a:p>
            <a:r>
              <a:rPr kumimoji="1" lang="en-US" altLang="zh-CN" sz="1200" dirty="0"/>
              <a:t>For experiments in which sequence </a:t>
            </a:r>
            <a:r>
              <a:rPr kumimoji="1" lang="en-US" altLang="zh-CN" sz="1200" dirty="0">
                <a:solidFill>
                  <a:srgbClr val="FF0000"/>
                </a:solidFill>
              </a:rPr>
              <a:t>depth differs between input and treatment samples</a:t>
            </a:r>
            <a:r>
              <a:rPr kumimoji="1" lang="en-US" altLang="zh-CN" sz="1200" dirty="0"/>
              <a:t>, MACS linearly scales the total control tag count to be the same as the total </a:t>
            </a:r>
            <a:r>
              <a:rPr kumimoji="1" lang="en-US" altLang="zh-CN" sz="1200" dirty="0" err="1"/>
              <a:t>ChIP</a:t>
            </a:r>
            <a:r>
              <a:rPr kumimoji="1" lang="en-US" altLang="zh-CN" sz="1200" dirty="0"/>
              <a:t> tag count. The default </a:t>
            </a:r>
            <a:r>
              <a:rPr kumimoji="1" lang="en-US" altLang="zh-CN" sz="1200" dirty="0" err="1"/>
              <a:t>behaviour</a:t>
            </a:r>
            <a:r>
              <a:rPr kumimoji="1" lang="en-US" altLang="zh-CN" sz="1200" dirty="0"/>
              <a:t> is </a:t>
            </a:r>
            <a:r>
              <a:rPr kumimoji="1" lang="en-US" altLang="zh-CN" sz="1200" dirty="0">
                <a:solidFill>
                  <a:srgbClr val="FF0000"/>
                </a:solidFill>
              </a:rPr>
              <a:t>for the larger sample to be scaled down</a:t>
            </a:r>
            <a:r>
              <a:rPr kumimoji="1" lang="en-US" altLang="zh-CN" sz="1200" dirty="0"/>
              <a:t>.</a:t>
            </a:r>
            <a:endParaRPr kumimoji="1" lang="en-US" altLang="zh-CN" dirty="0"/>
          </a:p>
          <a:p>
            <a:r>
              <a:rPr kumimoji="1" lang="en-US" altLang="zh-CN" b="1" dirty="0"/>
              <a:t>5</a:t>
            </a:r>
            <a:r>
              <a:rPr kumimoji="1" lang="zh-CN" altLang="en-US" b="1" dirty="0"/>
              <a:t>、根据基因组背景及动态</a:t>
            </a:r>
            <a:r>
              <a:rPr kumimoji="1" lang="en-US" altLang="zh-CN" b="1" dirty="0"/>
              <a:t>lambda</a:t>
            </a:r>
            <a:r>
              <a:rPr kumimoji="1" lang="zh-CN" altLang="en-US" b="1" dirty="0"/>
              <a:t>找到候选的</a:t>
            </a:r>
            <a:r>
              <a:rPr kumimoji="1" lang="en-US" altLang="zh-CN" b="1" dirty="0"/>
              <a:t>peak</a:t>
            </a:r>
            <a:r>
              <a:rPr kumimoji="1" lang="zh-CN" altLang="en-US" b="1" dirty="0"/>
              <a:t>（</a:t>
            </a:r>
            <a:r>
              <a:rPr kumimoji="1" lang="en-US" altLang="zh-CN" b="1" dirty="0"/>
              <a:t>P43-45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r>
              <a:rPr kumimoji="1" lang="en-US" altLang="zh-CN" sz="1200" dirty="0"/>
              <a:t>After MACS shifts every tag by d/2, it then slides across the genome using </a:t>
            </a:r>
            <a:r>
              <a:rPr kumimoji="1" lang="en-US" altLang="zh-CN" sz="1200" b="1" dirty="0">
                <a:solidFill>
                  <a:srgbClr val="FF0000"/>
                </a:solidFill>
              </a:rPr>
              <a:t>a window size of 2d to find candidate peaks.</a:t>
            </a:r>
          </a:p>
          <a:p>
            <a:r>
              <a:rPr kumimoji="1" lang="en-US" altLang="zh-CN" sz="1200" dirty="0"/>
              <a:t>The tag distribution along the genome can be modeled by a </a:t>
            </a:r>
            <a:r>
              <a:rPr kumimoji="1" lang="en-US" altLang="zh-CN" sz="1200" dirty="0">
                <a:solidFill>
                  <a:srgbClr val="FF0000"/>
                </a:solidFill>
              </a:rPr>
              <a:t>Poisson distribution</a:t>
            </a:r>
            <a:r>
              <a:rPr kumimoji="1" lang="en-US" altLang="zh-CN" sz="1200" dirty="0"/>
              <a:t>. The Poisson is a one parameter model, where the parameter λ is the expected number of reads in that window.</a:t>
            </a:r>
          </a:p>
          <a:p>
            <a:r>
              <a:rPr kumimoji="1" lang="en-US" altLang="zh-CN" b="1" dirty="0"/>
              <a:t>6</a:t>
            </a:r>
            <a:r>
              <a:rPr kumimoji="1" lang="zh-CN" altLang="en-US" b="1" dirty="0"/>
              <a:t>、计算</a:t>
            </a:r>
            <a:r>
              <a:rPr kumimoji="1" lang="en-US" altLang="zh-CN" b="1" dirty="0" err="1"/>
              <a:t>pvalue</a:t>
            </a:r>
            <a:r>
              <a:rPr kumimoji="1" lang="zh-CN" altLang="en-US" b="1" dirty="0"/>
              <a:t>过滤</a:t>
            </a:r>
            <a:r>
              <a:rPr kumimoji="1" lang="en-US" altLang="zh-CN" b="1" dirty="0"/>
              <a:t>peak</a:t>
            </a:r>
          </a:p>
          <a:p>
            <a:r>
              <a:rPr kumimoji="1" lang="en-US" altLang="zh-CN" sz="1200" dirty="0"/>
              <a:t>A region is considered to have a significant tag enrichment if the p-value &lt; 10e-5 (this can be changed from the default). This is a Poisson distribution p-value based on λ.</a:t>
            </a:r>
          </a:p>
          <a:p>
            <a:endParaRPr kumimoji="1" lang="en-US" altLang="zh-CN" dirty="0"/>
          </a:p>
          <a:p>
            <a:r>
              <a:rPr kumimoji="1" lang="en-US" altLang="zh-CN" b="1" dirty="0"/>
              <a:t>7</a:t>
            </a:r>
            <a:r>
              <a:rPr kumimoji="1" lang="zh-CN" altLang="en-US" b="1" dirty="0"/>
              <a:t>、根据</a:t>
            </a:r>
            <a:r>
              <a:rPr kumimoji="1" lang="en-US" altLang="zh-CN" b="1" dirty="0" err="1"/>
              <a:t>pvalue</a:t>
            </a:r>
            <a:r>
              <a:rPr kumimoji="1" lang="zh-CN" altLang="en-US" b="1" dirty="0"/>
              <a:t>计算</a:t>
            </a:r>
            <a:r>
              <a:rPr kumimoji="1" lang="en-US" altLang="zh-CN" b="1" dirty="0"/>
              <a:t>FDR</a:t>
            </a:r>
            <a:r>
              <a:rPr kumimoji="1" lang="zh-CN" altLang="en-US" b="1" dirty="0"/>
              <a:t>（</a:t>
            </a:r>
            <a:r>
              <a:rPr kumimoji="1" lang="en-US" altLang="zh-CN" b="1" dirty="0"/>
              <a:t>P46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0" y="0"/>
            <a:ext cx="372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kern="0" dirty="0">
                <a:solidFill>
                  <a:srgbClr val="A1131B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MACS2 peak calling</a:t>
            </a:r>
            <a:endParaRPr kumimoji="1" lang="zh-CN" altLang="en-US" sz="3000" dirty="0">
              <a:ea typeface="华文黑体"/>
            </a:endParaRPr>
          </a:p>
        </p:txBody>
      </p:sp>
      <p:cxnSp>
        <p:nvCxnSpPr>
          <p:cNvPr id="7" name="直线连接符 5"/>
          <p:cNvCxnSpPr/>
          <p:nvPr/>
        </p:nvCxnSpPr>
        <p:spPr>
          <a:xfrm>
            <a:off x="64145" y="584775"/>
            <a:ext cx="5375428" cy="0"/>
          </a:xfrm>
          <a:prstGeom prst="line">
            <a:avLst/>
          </a:prstGeom>
          <a:ln w="762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72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4680" y="436141"/>
            <a:ext cx="372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kern="0" dirty="0">
                <a:solidFill>
                  <a:srgbClr val="A1131B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MACS2 peak calling</a:t>
            </a:r>
            <a:endParaRPr kumimoji="1" lang="zh-CN" altLang="en-US" sz="3000" dirty="0">
              <a:ea typeface="华文黑体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38825" y="1116009"/>
            <a:ext cx="5375428" cy="0"/>
          </a:xfrm>
          <a:prstGeom prst="line">
            <a:avLst/>
          </a:prstGeom>
          <a:ln w="762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258814"/>
            <a:ext cx="9144000" cy="4060754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290F9-4D69-1845-BADF-F98C06475AC1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1313" y="5224474"/>
            <a:ext cx="8442959" cy="13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 -m MFOLD </a:t>
            </a:r>
            <a:r>
              <a:rPr lang="en-US" altLang="zh-CN" sz="1600" dirty="0" err="1"/>
              <a:t>MFOLD</a:t>
            </a:r>
            <a:r>
              <a:rPr lang="en-US" altLang="zh-CN" sz="1600" dirty="0"/>
              <a:t>, --</a:t>
            </a:r>
            <a:r>
              <a:rPr lang="en-US" altLang="zh-CN" sz="1600" dirty="0" err="1"/>
              <a:t>mfold</a:t>
            </a:r>
            <a:r>
              <a:rPr lang="en-US" altLang="zh-CN" sz="1600" dirty="0"/>
              <a:t> MFOLD </a:t>
            </a:r>
            <a:r>
              <a:rPr lang="en-US" altLang="zh-CN" sz="1600" dirty="0" err="1"/>
              <a:t>MFOLD</a:t>
            </a:r>
            <a:endParaRPr lang="en-US" altLang="zh-CN" sz="1600" dirty="0"/>
          </a:p>
          <a:p>
            <a:r>
              <a:rPr lang="en-US" altLang="zh-CN" sz="1600" dirty="0"/>
              <a:t>                        Select the regions within MFOLD range of high confidence enrichment ratio against background to build model. Fold-enrichment in regions must be lower than upper limit, and higher than the lower limit. Use  as "-m 10 30". This setting is only used while building the shifting model. Tweaking it is not recommended. </a:t>
            </a:r>
            <a:r>
              <a:rPr lang="en-US" altLang="zh-CN" sz="1600" b="1" dirty="0">
                <a:solidFill>
                  <a:srgbClr val="FF0000"/>
                </a:solidFill>
              </a:rPr>
              <a:t>DEFAULT:5 50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9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6883" y="154381"/>
            <a:ext cx="85383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测序得到的片段就是我们转录因子结合位点周围的片段。需要注意的一点是，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MACS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软件出现的年代是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2008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年，那时候的测序读长都很短，大约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50bp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左右，且以单端测序为主，并没有真实反应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DNA-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蛋白结合片段的长度。所以说，我们如果拿测得的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50bp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去做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reads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数目的堆积，势必会与真实的结合位置有一定的偏移。事实上，测序的短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reads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会在真实的结合位置两侧形成双峰，如下图左侧示。这也是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MACS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双峰模型构建的理论基础。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09" y="1667346"/>
            <a:ext cx="7343775" cy="4124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8758" y="5981197"/>
            <a:ext cx="8538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确定之后，所有的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reads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都会朝着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3'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的方向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横移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shift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d/2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的距离，从而更好地模拟出蛋白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-DNA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结合位点。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290F9-4D69-1845-BADF-F98C06475AC1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0993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4680" y="436141"/>
            <a:ext cx="372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kern="0" dirty="0">
                <a:solidFill>
                  <a:srgbClr val="A1131B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MACS2 peak calling</a:t>
            </a:r>
            <a:endParaRPr kumimoji="1" lang="zh-CN" altLang="en-US" sz="3000" dirty="0">
              <a:ea typeface="华文黑体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38825" y="1116009"/>
            <a:ext cx="5375428" cy="0"/>
          </a:xfrm>
          <a:prstGeom prst="line">
            <a:avLst/>
          </a:prstGeom>
          <a:ln w="762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" y="1116009"/>
            <a:ext cx="9097253" cy="3717157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290F9-4D69-1845-BADF-F98C06475AC1}" type="slidenum">
              <a:rPr kumimoji="1" lang="zh-CN" altLang="en-US" smtClean="0"/>
              <a:t>12</a:t>
            </a:fld>
            <a:endParaRPr kumimoji="1"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9778" y="4945733"/>
            <a:ext cx="85670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The lambda parameter is estimated from the control sample </a:t>
            </a:r>
            <a:r>
              <a:rPr lang="zh-CN" altLang="en-US" dirty="0"/>
              <a:t>and is deduced by taking the maximum value across various window sizes: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210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49283" y="2152543"/>
            <a:ext cx="8538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lambda_{BG}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来自于全基因组的计算，​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lambda_{region}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则来自在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control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中的对应区域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候选区域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，剩下的</a:t>
            </a:r>
            <a:r>
              <a:rPr lang="en-US" altLang="zh-CN" sz="1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lambda_x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​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则来自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control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中，以得到的候选区域为中心，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1k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5k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10k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范围内的区域计算。</a:t>
            </a:r>
            <a:endParaRPr lang="zh-CN" altLang="en-US" sz="1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682" y="1760799"/>
            <a:ext cx="4851356" cy="4807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9283" y="306781"/>
            <a:ext cx="853835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、基于先前已经调整位置的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reads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MACS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会在全基因组范围内以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2d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长度的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window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来寻找那些有显著富集的区域。</a:t>
            </a: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2.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有重叠的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window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会融合成一个候选区域。</a:t>
            </a: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3.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因为会有许多因素影响不同范围内的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reads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富集程度，所以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MACS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用了动态的​参数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lambda_{local}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来对于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reads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数目的富集进行泊松分布的建模。</a:t>
            </a: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动态参数值定义为：</a:t>
            </a:r>
            <a:endParaRPr lang="zh-CN" altLang="en-US" sz="1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212" y="3110110"/>
            <a:ext cx="5524500" cy="20955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9283" y="5499405"/>
            <a:ext cx="85383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、如果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control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不在，则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local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值只是在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Chip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IP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样本中计算，而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region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1k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值也会被舍弃。同时如果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Chip-Seq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control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的样本测序深度不同，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MACS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会默认地把测序深度更深的样本缩放。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dirty="0"/>
              <a:t>The ratio between the </a:t>
            </a:r>
            <a:r>
              <a:rPr lang="en-US" altLang="zh-CN" dirty="0" err="1"/>
              <a:t>ChIP-seq</a:t>
            </a:r>
            <a:r>
              <a:rPr lang="en-US" altLang="zh-CN" dirty="0"/>
              <a:t> tag count and </a:t>
            </a:r>
            <a:r>
              <a:rPr lang="en-US" altLang="zh-CN" dirty="0" err="1"/>
              <a:t>λlocal</a:t>
            </a:r>
            <a:r>
              <a:rPr lang="en-US" altLang="zh-CN" dirty="0"/>
              <a:t> is reported as the </a:t>
            </a:r>
            <a:r>
              <a:rPr lang="en-US" altLang="zh-CN" b="1" dirty="0">
                <a:solidFill>
                  <a:srgbClr val="FF0000"/>
                </a:solidFill>
              </a:rPr>
              <a:t>fold enrichment</a:t>
            </a:r>
            <a:r>
              <a:rPr lang="en-US" altLang="zh-CN" dirty="0"/>
              <a:t>.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290F9-4D69-1845-BADF-F98C06475AC1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671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4680" y="436141"/>
            <a:ext cx="372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kern="0" dirty="0">
                <a:solidFill>
                  <a:srgbClr val="A1131B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MACS2 peak calling</a:t>
            </a:r>
            <a:endParaRPr kumimoji="1" lang="zh-CN" altLang="en-US" sz="3000" dirty="0">
              <a:ea typeface="华文黑体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38825" y="1116009"/>
            <a:ext cx="5375428" cy="0"/>
          </a:xfrm>
          <a:prstGeom prst="line">
            <a:avLst/>
          </a:prstGeom>
          <a:ln w="762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2342"/>
            <a:ext cx="9136176" cy="362716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9283" y="5038246"/>
            <a:ext cx="85383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、关于​以及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值这一步的计算可能需要看源代码才可以了解，但根据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MACS2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wiki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来说，似乎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值和​的计算都是以单个碱基为单位考虑的。</a:t>
            </a: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、基于泊松分布的模型，我们就可以以单尾检验，计算出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值了。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MACS1.4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默认以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p=1 x 10-5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为阈值。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MACS2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默认</a:t>
            </a:r>
            <a:r>
              <a:rPr lang="en-US" altLang="zh-CN" sz="1600" b="1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qvalue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&lt;0.05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为阈值。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290F9-4D69-1845-BADF-F98C06475AC1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2160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3020" y="112160"/>
            <a:ext cx="372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kern="0" dirty="0">
                <a:solidFill>
                  <a:srgbClr val="A1131B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MACS2 peak calling</a:t>
            </a:r>
            <a:endParaRPr kumimoji="1" lang="zh-CN" altLang="en-US" sz="3000" dirty="0">
              <a:ea typeface="华文黑体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234025" y="696935"/>
            <a:ext cx="5375428" cy="0"/>
          </a:xfrm>
          <a:prstGeom prst="line">
            <a:avLst/>
          </a:prstGeom>
          <a:ln w="76200" cmpd="sng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8" y="748602"/>
            <a:ext cx="9132122" cy="397705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878" y="4868883"/>
            <a:ext cx="1425036" cy="8668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222" y="2942351"/>
            <a:ext cx="673318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、当有对照组实验存在时，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MACS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会进行两次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peak calling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。第一次以实验组（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Treatment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）为实验组，对照组为对照组，第二次颠倒，以实验组为对照组，对照组为实验组。之后，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MACS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对每一个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计算了相应的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FDR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False Discovery Rate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）值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;</a:t>
            </a:r>
          </a:p>
          <a:p>
            <a:endParaRPr lang="en-US" altLang="zh-CN" sz="1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negative peaks with </a:t>
            </a:r>
            <a:r>
              <a:rPr lang="en-US" altLang="zh-CN" sz="1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pval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&lt;p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表示第二次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peak calling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（颠倒的）得到的置信概率小于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peak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的个数；</a:t>
            </a:r>
            <a:endParaRPr lang="en-US" altLang="zh-CN" sz="1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en-US" altLang="zh-CN" sz="1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positive peaks with </a:t>
            </a:r>
            <a:r>
              <a:rPr lang="en-US" altLang="zh-CN" sz="1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pval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&lt;p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表示第一次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peak calling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（颠倒的）得到的置信概率小于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peak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的个数；</a:t>
            </a:r>
            <a:endParaRPr lang="en-US" altLang="zh-CN" sz="1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en-US" altLang="zh-CN" sz="1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FDR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综合利用了实验组和对照组的信息，显然，</a:t>
            </a:r>
            <a:r>
              <a:rPr lang="en-US" altLang="zh-CN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FDR</a:t>
            </a:r>
            <a:r>
              <a:rPr lang="zh-CN" altLang="en-US" sz="1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越小越好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290F9-4D69-1845-BADF-F98C06475AC1}" type="slidenum">
              <a:rPr kumimoji="1" lang="zh-CN" altLang="en-US" smtClean="0"/>
              <a:t>15</a:t>
            </a:fld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63020" y="5623407"/>
            <a:ext cx="8980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in MACS2, p-values are now corrected for multiple comparison using the Benjamini-Hochberg correction.</a:t>
            </a:r>
          </a:p>
        </p:txBody>
      </p:sp>
    </p:spTree>
    <p:extLst>
      <p:ext uri="{BB962C8B-B14F-4D97-AF65-F5344CB8AC3E}">
        <p14:creationId xmlns:p14="http://schemas.microsoft.com/office/powerpoint/2010/main" val="3538401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7E7EC-14B7-4B8C-8ADA-91FDFE3D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470DD1-ACDE-4097-9B2B-3CF4B9342376}"/>
              </a:ext>
            </a:extLst>
          </p:cNvPr>
          <p:cNvSpPr txBox="1"/>
          <p:nvPr/>
        </p:nvSpPr>
        <p:spPr>
          <a:xfrm>
            <a:off x="456300" y="2013087"/>
            <a:ext cx="8003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linkClick r:id="rId2"/>
              </a:rPr>
              <a:t>https://github.com/macs3-project/MACS/wiki/Advanced:-Call-peaks-using-MACS2-subcommands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E9BD93-A9B5-4079-A000-78C297293EA6}"/>
              </a:ext>
            </a:extLst>
          </p:cNvPr>
          <p:cNvSpPr txBox="1"/>
          <p:nvPr/>
        </p:nvSpPr>
        <p:spPr>
          <a:xfrm>
            <a:off x="456300" y="2969432"/>
            <a:ext cx="7857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hlinkClick r:id="rId3"/>
              </a:rPr>
              <a:t>https://hbctraining.github.io/Intro-to-ChIPseq/lessons/05_peak_calling_macs.html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94203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2277</TotalTime>
  <Words>2186</Words>
  <Application>Microsoft Office PowerPoint</Application>
  <PresentationFormat>全屏显示(4:3)</PresentationFormat>
  <Paragraphs>127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华文新魏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小 七</cp:lastModifiedBy>
  <cp:revision>281</cp:revision>
  <dcterms:created xsi:type="dcterms:W3CDTF">2019-06-19T02:08:00Z</dcterms:created>
  <dcterms:modified xsi:type="dcterms:W3CDTF">2022-05-01T07:05:03Z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D546F68DFA5C47FE87EB887413EDA292</vt:lpwstr>
  </property>
</Properties>
</file>